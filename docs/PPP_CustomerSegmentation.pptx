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4" r:id="rId4"/>
    <p:sldId id="262" r:id="rId5"/>
    <p:sldId id="260" r:id="rId6"/>
    <p:sldId id="269" r:id="rId7"/>
    <p:sldId id="266" r:id="rId8"/>
    <p:sldId id="261" r:id="rId9"/>
    <p:sldId id="265" r:id="rId10"/>
    <p:sldId id="267" r:id="rId11"/>
    <p:sldId id="275" r:id="rId12"/>
    <p:sldId id="271" r:id="rId13"/>
    <p:sldId id="27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F95"/>
    <a:srgbClr val="367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C6DC7-AFAE-4C3E-A88B-4079078CD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725A1AF-5133-45F0-B6CE-307AF37C4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AF47376-CE94-4747-B8B2-6944B116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F95702F-3F42-4D37-A30D-2AA9EC42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E50C03-2B3E-40D1-B592-88903D96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34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DF363-46F1-40FC-8178-BB5A3FA7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ADA952B-9650-44AC-82F4-E2704EE33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AF9C18A-FD60-4569-8051-E7B6AA35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07424D-44A3-44CA-BE81-81A885B7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7B9CA99-EA95-414A-BFF2-10ACDC56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18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E410A-EA3F-47A7-AEBF-D6A937CB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128943A-978E-4367-9397-0D9339939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A99F61B-B7EE-49E9-8259-F9F32DA7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14A9B98-51C7-45D5-9F52-1C4B634C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0073070-6396-4EDE-89F7-8205ED5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30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3F5EC-DB58-44E2-8E0C-4E948B99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B78D5EC-6F0A-4936-BA93-69DF4FCBB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8FD3E2E-6949-4DA3-88D0-A0318FFA4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0F873A3-8587-46EA-9768-E7551E926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67D913F-9E25-40E7-A303-C7FD363C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D82D792-C7A2-477A-965B-A35DF3FE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164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810CF-7DED-4F05-A355-FB871FB7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C22E20-8C6B-4D19-865D-C4A70F8A1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18C35E6-413E-414E-BB45-2D52818F6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34E7478-86FC-4108-8233-9364806AE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F54DEF4-0A00-47E3-AAC8-765CB4914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30EF845-2737-474D-A204-46954318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0A851C2-AE8B-4085-9409-75D34F08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090902B-5324-4D10-AB8D-AE0E46EF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47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A4E87-6820-40D9-90E5-49B9E008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E3C06DF-A573-460D-A380-CC1C3DF6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E986F14-59C3-4B29-A414-8084DA05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C6588DD-20A6-420B-A683-08B3B59C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81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4061F5E-89FC-489F-890C-9C0C7A0F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4C42BA8A-0181-44D9-963F-2B7CE9C0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7351896-762F-42B5-A5DC-46740668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91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A312E-9E06-4DF7-8F39-1770DBAA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15D0D2-A012-4115-98E1-87C491ED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6223976-052D-4516-8284-0ED0448D4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E6B2311-075A-4D7A-99E7-894BCA4B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76F7811-5CFE-40A5-850C-61D939B0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A96FA28-1700-471C-B904-EAC6C049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64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A93AC-3227-4088-90AA-BA7274C3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25A5E72-9819-4C0E-92F7-A9D352478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A9B5711-49DF-4AC7-BA08-062E742D2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5FE0AD2-B5B0-48FA-993E-33013D1F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7BC4AB7-C541-43A9-8D3E-DB506AE40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B257EE2-A0EE-449F-9973-0937F955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1DC70-D679-46C8-89BB-DEF5D803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54E077C-B2A9-4695-89FA-93140BC42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7295744-EA4A-4F12-B7C9-470AE79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2D3F20-E0BF-402D-851A-173CE49B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134AE9A-9AAE-4D8D-AFA8-2DCFE6D2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69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7E2FA6D-39C2-484D-A445-CB5E24831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8D588AA-EB4D-4F10-BE62-C656C8C42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4AC2056-832B-4010-A6AD-1604BBE4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2D2838D-0023-4B22-8F7F-040852FC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006F881-9B69-4191-B520-BDCEB587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24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99A051F-5EFD-470D-BF37-B6EE7234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41FDD50-16AD-405E-9932-28CED4861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C3757E5-7D98-4F20-9CA8-B5A147381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B3F75-FE87-4FB1-A8B7-6DA5C4426F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A3A9C35-C6C0-42A9-BA48-AAB2ECD69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D354FAA-B3D8-4493-8178-28F4357E9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D1C1B-CB55-48A7-8D97-D7CB01699DD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9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75B08-4B58-4F2E-B41D-31CCFBD09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155" y="888856"/>
            <a:ext cx="7279690" cy="2387600"/>
          </a:xfrm>
        </p:spPr>
        <p:txBody>
          <a:bodyPr>
            <a:normAutofit fontScale="90000"/>
          </a:bodyPr>
          <a:lstStyle/>
          <a:p>
            <a:r>
              <a:rPr lang="de-DE" b="1" dirty="0">
                <a:latin typeface="Candara" panose="020E0502030303020204" pitchFamily="34" charset="0"/>
              </a:rPr>
              <a:t>Kundensegmentierung und Umsatzanalyse </a:t>
            </a:r>
            <a:br>
              <a:rPr lang="de-DE" b="1" dirty="0">
                <a:latin typeface="Candara" panose="020E0502030303020204" pitchFamily="34" charset="0"/>
              </a:rPr>
            </a:br>
            <a:r>
              <a:rPr lang="de-DE" b="1" dirty="0">
                <a:latin typeface="Candara" panose="020E0502030303020204" pitchFamily="34" charset="0"/>
              </a:rPr>
              <a:t>im E-Commerce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F6F9CB8-D669-46AA-9750-6ADB9021D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32884"/>
            <a:ext cx="12192000" cy="441464"/>
          </a:xfrm>
        </p:spPr>
        <p:txBody>
          <a:bodyPr>
            <a:normAutofit/>
          </a:bodyPr>
          <a:lstStyle/>
          <a:p>
            <a:r>
              <a:rPr lang="de-DE" dirty="0">
                <a:latin typeface="Candara" panose="020E0502030303020204" pitchFamily="34" charset="0"/>
              </a:rPr>
              <a:t>Datengestützte Analyse von Kunden, Umsatz und Risiko</a:t>
            </a:r>
          </a:p>
        </p:txBody>
      </p: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0EC1AA76-FF40-4E1D-B02D-C7FEE6E3FBCA}"/>
              </a:ext>
            </a:extLst>
          </p:cNvPr>
          <p:cNvGrpSpPr/>
          <p:nvPr/>
        </p:nvGrpSpPr>
        <p:grpSpPr>
          <a:xfrm>
            <a:off x="4423455" y="5852069"/>
            <a:ext cx="3345088" cy="646331"/>
            <a:chOff x="1747777" y="2897823"/>
            <a:chExt cx="3345088" cy="646331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83CB4EF5-320C-449E-A2E7-3A439DD93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7373" y="2925680"/>
              <a:ext cx="293799" cy="29379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B8B1CF-2A28-4FA3-A830-84C74B41DAB9}"/>
                </a:ext>
              </a:extLst>
            </p:cNvPr>
            <p:cNvSpPr txBox="1"/>
            <p:nvPr/>
          </p:nvSpPr>
          <p:spPr>
            <a:xfrm>
              <a:off x="1747777" y="2897823"/>
              <a:ext cx="33450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ndara" panose="020E0502030303020204" pitchFamily="34" charset="0"/>
                </a:rPr>
                <a:t>Anna </a:t>
              </a:r>
              <a:r>
                <a:rPr lang="en-US" dirty="0" err="1">
                  <a:latin typeface="Candara" panose="020E0502030303020204" pitchFamily="34" charset="0"/>
                </a:rPr>
                <a:t>Krupska</a:t>
              </a:r>
              <a:endParaRPr lang="en-US" dirty="0">
                <a:latin typeface="Candara" panose="020E0502030303020204" pitchFamily="34" charset="0"/>
              </a:endParaRPr>
            </a:p>
            <a:p>
              <a:pPr algn="ctr"/>
              <a:r>
                <a:rPr lang="en-US" dirty="0">
                  <a:latin typeface="Candara" panose="020E0502030303020204" pitchFamily="34" charset="0"/>
                </a:rPr>
                <a:t>Data Analyst Portfolio Project</a:t>
              </a:r>
              <a:endParaRPr lang="ru-RU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08EFC888-98BB-4B9C-A26B-DA9C75BF1D2F}"/>
              </a:ext>
            </a:extLst>
          </p:cNvPr>
          <p:cNvCxnSpPr>
            <a:cxnSpLocks/>
          </p:cNvCxnSpPr>
          <p:nvPr/>
        </p:nvCxnSpPr>
        <p:spPr>
          <a:xfrm>
            <a:off x="1504709" y="3620370"/>
            <a:ext cx="9201873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63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de-DE" sz="3200" b="1" dirty="0">
                <a:latin typeface="Candara" panose="020E0502030303020204" pitchFamily="34" charset="0"/>
              </a:rPr>
              <a:t>GESCHÄFTSZIELE: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05369-BB2A-41EC-992F-C00B4B1FC9EA}"/>
              </a:ext>
            </a:extLst>
          </p:cNvPr>
          <p:cNvSpPr txBox="1"/>
          <p:nvPr/>
        </p:nvSpPr>
        <p:spPr>
          <a:xfrm>
            <a:off x="838200" y="1229154"/>
            <a:ext cx="5257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andara" panose="020E0502030303020204" pitchFamily="34" charset="0"/>
              </a:rPr>
              <a:t>✓ Wertvolle Kunden identifizieren</a:t>
            </a:r>
          </a:p>
          <a:p>
            <a:endParaRPr lang="de-DE" dirty="0">
              <a:latin typeface="Candara" panose="020E0502030303020204" pitchFamily="34" charset="0"/>
            </a:endParaRPr>
          </a:p>
          <a:p>
            <a:r>
              <a:rPr lang="de-DE" dirty="0">
                <a:latin typeface="Candara" panose="020E0502030303020204" pitchFamily="34" charset="0"/>
              </a:rPr>
              <a:t>✓ Profitabilität von Produkten verstehen</a:t>
            </a:r>
          </a:p>
          <a:p>
            <a:endParaRPr lang="de-DE" dirty="0">
              <a:latin typeface="Candara" panose="020E0502030303020204" pitchFamily="34" charset="0"/>
            </a:endParaRPr>
          </a:p>
          <a:p>
            <a:r>
              <a:rPr lang="de-DE" dirty="0">
                <a:latin typeface="Candara" panose="020E0502030303020204" pitchFamily="34" charset="0"/>
              </a:rPr>
              <a:t>✓ Kundenverhalten &amp; Abwanderungsrisiken </a:t>
            </a:r>
            <a:r>
              <a:rPr lang="en-US" dirty="0">
                <a:latin typeface="Candara" panose="020E0502030303020204" pitchFamily="34" charset="0"/>
              </a:rPr>
              <a:t>verstehen</a:t>
            </a:r>
            <a:endParaRPr lang="de-DE" dirty="0">
              <a:latin typeface="Candara" panose="020E0502030303020204" pitchFamily="34" charset="0"/>
            </a:endParaRPr>
          </a:p>
          <a:p>
            <a:endParaRPr lang="de-DE" dirty="0">
              <a:latin typeface="Candara" panose="020E0502030303020204" pitchFamily="34" charset="0"/>
            </a:endParaRPr>
          </a:p>
          <a:p>
            <a:endParaRPr lang="de-DE" b="1" dirty="0">
              <a:latin typeface="Candara" panose="020E0502030303020204" pitchFamily="34" charset="0"/>
            </a:endParaRPr>
          </a:p>
          <a:p>
            <a:r>
              <a:rPr lang="de-DE" sz="2000" dirty="0">
                <a:latin typeface="Candara" panose="020E0502030303020204" pitchFamily="34" charset="0"/>
              </a:rPr>
              <a:t>ZU BEANTWORTENDE FRAGEN:</a:t>
            </a:r>
          </a:p>
          <a:p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Wer sind unsere wertvollsten Kunden?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Welche Produkte sind profitabel?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Wer ist anfällig für Kundenabwanderung?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Wie können Ressourcen effektiv eingesetzt werden?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CFE4E-FDA0-436B-BBD2-BFD8BD9D84DC}"/>
              </a:ext>
            </a:extLst>
          </p:cNvPr>
          <p:cNvSpPr txBox="1"/>
          <p:nvPr/>
        </p:nvSpPr>
        <p:spPr>
          <a:xfrm>
            <a:off x="6427431" y="1437981"/>
            <a:ext cx="5406501" cy="3982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latin typeface="Candara" panose="020E0502030303020204" pitchFamily="34" charset="0"/>
              </a:rPr>
              <a:t>Daten</a:t>
            </a:r>
            <a:r>
              <a:rPr lang="en-US" sz="2800" b="1" dirty="0">
                <a:latin typeface="Candara" panose="020E0502030303020204" pitchFamily="34" charset="0"/>
              </a:rPr>
              <a:t>:</a:t>
            </a:r>
          </a:p>
          <a:p>
            <a:pPr algn="ctr"/>
            <a:endParaRPr lang="uk-UA" sz="2800" b="1" dirty="0">
              <a:latin typeface="Candara" panose="020E0502030303020204" pitchFamily="34" charset="0"/>
            </a:endParaRPr>
          </a:p>
          <a:p>
            <a:r>
              <a:rPr lang="en-US" sz="2800" dirty="0">
                <a:latin typeface="Candara" panose="020E0502030303020204" pitchFamily="34" charset="0"/>
              </a:rPr>
              <a:t>-</a:t>
            </a:r>
            <a:r>
              <a:rPr lang="en-US" sz="2800" b="1" dirty="0">
                <a:latin typeface="Candara" panose="020E0502030303020204" pitchFamily="34" charset="0"/>
              </a:rPr>
              <a:t> 4 194 </a:t>
            </a:r>
            <a:r>
              <a:rPr lang="en-US" sz="2800" dirty="0" err="1"/>
              <a:t>Bestellungen</a:t>
            </a:r>
            <a:endParaRPr lang="uk-UA" sz="2800" dirty="0">
              <a:latin typeface="Candara" panose="020E0502030303020204" pitchFamily="34" charset="0"/>
            </a:endParaRPr>
          </a:p>
          <a:p>
            <a:endParaRPr lang="en-US" sz="2800" b="1" dirty="0">
              <a:latin typeface="Candara" panose="020E0502030303020204" pitchFamily="34" charset="0"/>
            </a:endParaRPr>
          </a:p>
          <a:p>
            <a:r>
              <a:rPr lang="en-US" sz="2800" dirty="0">
                <a:latin typeface="Candara" panose="020E0502030303020204" pitchFamily="34" charset="0"/>
              </a:rPr>
              <a:t>- </a:t>
            </a:r>
            <a:r>
              <a:rPr lang="en-US" sz="2800" b="1" dirty="0">
                <a:latin typeface="Candara" panose="020E0502030303020204" pitchFamily="34" charset="0"/>
              </a:rPr>
              <a:t>3 900+ </a:t>
            </a:r>
            <a:r>
              <a:rPr lang="en-US" sz="2800" dirty="0" err="1"/>
              <a:t>Kunden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  <a:br>
              <a:rPr lang="uk-UA" sz="2800" dirty="0">
                <a:latin typeface="Candara" panose="020E0502030303020204" pitchFamily="34" charset="0"/>
              </a:rPr>
            </a:br>
            <a:endParaRPr lang="en-US" sz="2800" dirty="0">
              <a:latin typeface="Candara" panose="020E0502030303020204" pitchFamily="34" charset="0"/>
            </a:endParaRPr>
          </a:p>
          <a:p>
            <a:r>
              <a:rPr lang="en-US" sz="2800" dirty="0">
                <a:latin typeface="Candara" panose="020E0502030303020204" pitchFamily="34" charset="0"/>
              </a:rPr>
              <a:t>- </a:t>
            </a:r>
            <a:r>
              <a:rPr lang="en-US" sz="2800" dirty="0" err="1"/>
              <a:t>Zeitraum</a:t>
            </a:r>
            <a:r>
              <a:rPr lang="en-US" sz="2800" dirty="0">
                <a:latin typeface="Candara" panose="020E0502030303020204" pitchFamily="34" charset="0"/>
              </a:rPr>
              <a:t>: </a:t>
            </a:r>
            <a:r>
              <a:rPr lang="uk-UA" sz="2800" b="1" dirty="0">
                <a:latin typeface="Candara" panose="020E0502030303020204" pitchFamily="34" charset="0"/>
              </a:rPr>
              <a:t>03.</a:t>
            </a:r>
            <a:r>
              <a:rPr lang="ru-RU" sz="2800" b="1" dirty="0">
                <a:latin typeface="Candara" panose="020E0502030303020204" pitchFamily="34" charset="0"/>
              </a:rPr>
              <a:t>12.2013 – 16.05.2016</a:t>
            </a:r>
            <a:endParaRPr lang="uk-UA" sz="2800" dirty="0">
              <a:latin typeface="Candara" panose="020E0502030303020204" pitchFamily="34" charset="0"/>
            </a:endParaRPr>
          </a:p>
          <a:p>
            <a:endParaRPr lang="en-US" sz="2800" dirty="0">
              <a:latin typeface="Candara" panose="020E0502030303020204" pitchFamily="34" charset="0"/>
            </a:endParaRPr>
          </a:p>
          <a:p>
            <a:r>
              <a:rPr lang="en-US" sz="2800" dirty="0">
                <a:latin typeface="Candara" panose="020E0502030303020204" pitchFamily="34" charset="0"/>
              </a:rPr>
              <a:t>- </a:t>
            </a:r>
            <a:r>
              <a:rPr lang="en-US" sz="2800" dirty="0" err="1">
                <a:latin typeface="Candara" panose="020E0502030303020204" pitchFamily="34" charset="0"/>
              </a:rPr>
              <a:t>Gesamtumsatz</a:t>
            </a:r>
            <a:r>
              <a:rPr lang="en-US" sz="2800" dirty="0">
                <a:latin typeface="Candara" panose="020E0502030303020204" pitchFamily="34" charset="0"/>
              </a:rPr>
              <a:t>: </a:t>
            </a:r>
            <a:r>
              <a:rPr lang="en-US" sz="2800" b="1" dirty="0">
                <a:latin typeface="Candara" panose="020E0502030303020204" pitchFamily="34" charset="0"/>
              </a:rPr>
              <a:t>411 278,76 USD</a:t>
            </a:r>
          </a:p>
        </p:txBody>
      </p:sp>
      <p:cxnSp>
        <p:nvCxnSpPr>
          <p:cNvPr id="7" name="Пряма сполучна лінія 6">
            <a:extLst>
              <a:ext uri="{FF2B5EF4-FFF2-40B4-BE49-F238E27FC236}">
                <a16:creationId xmlns:a16="http://schemas.microsoft.com/office/drawing/2014/main" id="{2E18C51F-A1CC-426B-B8FD-E2744838D298}"/>
              </a:ext>
            </a:extLst>
          </p:cNvPr>
          <p:cNvCxnSpPr>
            <a:cxnSpLocks/>
          </p:cNvCxnSpPr>
          <p:nvPr/>
        </p:nvCxnSpPr>
        <p:spPr>
          <a:xfrm flipV="1">
            <a:off x="6100382" y="1446539"/>
            <a:ext cx="0" cy="4860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1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DATENÜBERSICHT</a:t>
            </a:r>
            <a:endParaRPr lang="ru-RU" sz="3200" dirty="0">
              <a:latin typeface="Candara" panose="020E0502030303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F82BF3-516B-442B-A1BB-3C01EBD49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570" y="1333483"/>
            <a:ext cx="9533878" cy="419103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FB0252E-2847-441E-A414-26322C846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680" y="5920342"/>
            <a:ext cx="110032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dirty="0">
                <a:latin typeface="Candara" panose="020E0502030303020204" pitchFamily="34" charset="0"/>
              </a:rPr>
              <a:t>💡 </a:t>
            </a:r>
            <a:r>
              <a:rPr lang="de-DE" b="1" dirty="0">
                <a:latin typeface="Candara" panose="020E0502030303020204" pitchFamily="34" charset="0"/>
              </a:rPr>
              <a:t>Insight:  </a:t>
            </a:r>
            <a:r>
              <a:rPr kumimoji="0" lang="de-DE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B2B-Kunden machen nur 16 % der Kundenbasis aus, generieren jedoch rund 25 % des Umsatzes.</a:t>
            </a:r>
          </a:p>
        </p:txBody>
      </p:sp>
    </p:spTree>
    <p:extLst>
      <p:ext uri="{BB962C8B-B14F-4D97-AF65-F5344CB8AC3E}">
        <p14:creationId xmlns:p14="http://schemas.microsoft.com/office/powerpoint/2010/main" val="296991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KUNDENSEGMENTIERUNG</a:t>
            </a:r>
            <a:endParaRPr lang="ru-RU" sz="3200" b="1" dirty="0">
              <a:latin typeface="Candara" panose="020E0502030303020204" pitchFamily="34" charset="0"/>
            </a:endParaRPr>
          </a:p>
        </p:txBody>
      </p:sp>
      <p:pic>
        <p:nvPicPr>
          <p:cNvPr id="8" name="Місце для вмісту 3">
            <a:extLst>
              <a:ext uri="{FF2B5EF4-FFF2-40B4-BE49-F238E27FC236}">
                <a16:creationId xmlns:a16="http://schemas.microsoft.com/office/drawing/2014/main" id="{BA1E771D-78A8-4D77-B6DB-A35B6FC7E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380" y="1058610"/>
            <a:ext cx="6820192" cy="55378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E8C5A3-F0AC-4E45-BDA9-6B4447FFA5D2}"/>
              </a:ext>
            </a:extLst>
          </p:cNvPr>
          <p:cNvSpPr txBox="1"/>
          <p:nvPr/>
        </p:nvSpPr>
        <p:spPr>
          <a:xfrm>
            <a:off x="1132840" y="1613113"/>
            <a:ext cx="34442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andara" panose="020E0502030303020204" pitchFamily="34" charset="0"/>
              </a:rPr>
              <a:t>Interpretation: </a:t>
            </a:r>
          </a:p>
          <a:p>
            <a:endParaRPr lang="de-DE" b="1" dirty="0">
              <a:latin typeface="Candara" panose="020E0502030303020204" pitchFamily="34" charset="0"/>
            </a:endParaRPr>
          </a:p>
          <a:p>
            <a:r>
              <a:rPr lang="de-DE" b="1" dirty="0">
                <a:latin typeface="Candara" panose="020E0502030303020204" pitchFamily="34" charset="0"/>
              </a:rPr>
              <a:t>Champions (25 %)</a:t>
            </a:r>
          </a:p>
          <a:p>
            <a:r>
              <a:rPr lang="de-DE" dirty="0">
                <a:latin typeface="Candara" panose="020E0502030303020204" pitchFamily="34" charset="0"/>
              </a:rPr>
              <a:t>Sehr aktiv, hohe Kaufhäufigkeit</a:t>
            </a:r>
          </a:p>
          <a:p>
            <a:endParaRPr lang="de-DE" dirty="0">
              <a:latin typeface="Candara" panose="020E0502030303020204" pitchFamily="34" charset="0"/>
            </a:endParaRPr>
          </a:p>
          <a:p>
            <a:r>
              <a:rPr lang="de-DE" b="1" dirty="0">
                <a:latin typeface="Candara" panose="020E0502030303020204" pitchFamily="34" charset="0"/>
              </a:rPr>
              <a:t>Loyal Customers (25 %)</a:t>
            </a:r>
          </a:p>
          <a:p>
            <a:r>
              <a:rPr lang="de-DE" dirty="0">
                <a:latin typeface="Candara" panose="020E0502030303020204" pitchFamily="34" charset="0"/>
              </a:rPr>
              <a:t>Stabil, hohe </a:t>
            </a:r>
            <a:r>
              <a:rPr lang="de-DE" dirty="0" err="1">
                <a:latin typeface="Candara" panose="020E0502030303020204" pitchFamily="34" charset="0"/>
              </a:rPr>
              <a:t>Frequency</a:t>
            </a:r>
            <a:endParaRPr lang="de-DE" dirty="0">
              <a:latin typeface="Candara" panose="020E0502030303020204" pitchFamily="34" charset="0"/>
            </a:endParaRPr>
          </a:p>
          <a:p>
            <a:endParaRPr lang="de-DE" dirty="0">
              <a:latin typeface="Candara" panose="020E0502030303020204" pitchFamily="34" charset="0"/>
            </a:endParaRPr>
          </a:p>
          <a:p>
            <a:r>
              <a:rPr lang="de-DE" b="1" dirty="0">
                <a:solidFill>
                  <a:srgbClr val="C00000"/>
                </a:solidFill>
                <a:latin typeface="Candara" panose="020E0502030303020204" pitchFamily="34" charset="0"/>
              </a:rPr>
              <a:t>At-Risk (~20 %)</a:t>
            </a:r>
          </a:p>
          <a:p>
            <a:r>
              <a:rPr lang="de-DE" dirty="0">
                <a:latin typeface="Candara" panose="020E0502030303020204" pitchFamily="34" charset="0"/>
              </a:rPr>
              <a:t>Früher engagierte Kunden mit abnehmender </a:t>
            </a:r>
            <a:r>
              <a:rPr lang="de-DE" dirty="0" err="1">
                <a:latin typeface="Candara" panose="020E0502030303020204" pitchFamily="34" charset="0"/>
              </a:rPr>
              <a:t>Recency</a:t>
            </a:r>
            <a:endParaRPr lang="de-DE" dirty="0">
              <a:latin typeface="Candara" panose="020E0502030303020204" pitchFamily="34" charset="0"/>
            </a:endParaRPr>
          </a:p>
          <a:p>
            <a:r>
              <a:rPr lang="de-DE" dirty="0">
                <a:latin typeface="Candara" panose="020E0502030303020204" pitchFamily="34" charset="0"/>
              </a:rPr>
              <a:t>~56.9k $ historischer Umsatz gefährdet</a:t>
            </a:r>
          </a:p>
          <a:p>
            <a:endParaRPr lang="de-DE" dirty="0">
              <a:latin typeface="Candara" panose="020E0502030303020204" pitchFamily="34" charset="0"/>
            </a:endParaRPr>
          </a:p>
          <a:p>
            <a:r>
              <a:rPr lang="de-DE" b="1" dirty="0" err="1">
                <a:latin typeface="Candara" panose="020E0502030303020204" pitchFamily="34" charset="0"/>
              </a:rPr>
              <a:t>Others</a:t>
            </a:r>
            <a:r>
              <a:rPr lang="de-DE" b="1" dirty="0">
                <a:latin typeface="Candara" panose="020E0502030303020204" pitchFamily="34" charset="0"/>
              </a:rPr>
              <a:t> (~30 %)</a:t>
            </a:r>
          </a:p>
          <a:p>
            <a:r>
              <a:rPr lang="de-DE" dirty="0">
                <a:latin typeface="Candara" panose="020E0502030303020204" pitchFamily="34" charset="0"/>
              </a:rPr>
              <a:t>Geringe Aktivität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4AE9C-FECC-4126-B3D0-04EAB64A72C5}"/>
              </a:ext>
            </a:extLst>
          </p:cNvPr>
          <p:cNvSpPr txBox="1"/>
          <p:nvPr/>
        </p:nvSpPr>
        <p:spPr>
          <a:xfrm>
            <a:off x="9729387" y="6492874"/>
            <a:ext cx="2306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85000"/>
                  </a:schemeClr>
                </a:solidFill>
              </a:rPr>
              <a:t>#</a:t>
            </a:r>
            <a:r>
              <a:rPr lang="ru-RU" sz="1400" dirty="0" err="1">
                <a:solidFill>
                  <a:schemeClr val="bg1">
                    <a:lumMod val="85000"/>
                  </a:schemeClr>
                </a:solidFill>
              </a:rPr>
              <a:t>Частотний</a:t>
            </a:r>
            <a:r>
              <a:rPr lang="ru-RU" sz="1400" dirty="0">
                <a:solidFill>
                  <a:schemeClr val="bg1">
                    <a:lumMod val="85000"/>
                  </a:schemeClr>
                </a:solidFill>
              </a:rPr>
              <a:t> сегмент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3C46E-37F8-4781-8BC5-43698CD248CA}"/>
              </a:ext>
            </a:extLst>
          </p:cNvPr>
          <p:cNvSpPr txBox="1"/>
          <p:nvPr/>
        </p:nvSpPr>
        <p:spPr>
          <a:xfrm>
            <a:off x="4659547" y="6500956"/>
            <a:ext cx="2306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>
                    <a:lumMod val="85000"/>
                  </a:schemeClr>
                </a:solidFill>
              </a:rPr>
              <a:t># </a:t>
            </a:r>
            <a:r>
              <a:rPr lang="ru-RU" sz="1400" dirty="0" err="1">
                <a:solidFill>
                  <a:schemeClr val="bg1">
                    <a:lumMod val="85000"/>
                  </a:schemeClr>
                </a:solidFill>
              </a:rPr>
              <a:t>давність</a:t>
            </a:r>
            <a:endParaRPr lang="ru-RU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37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2900" b="1" dirty="0">
                <a:latin typeface="Candara" panose="020E0502030303020204" pitchFamily="34" charset="0"/>
              </a:rPr>
              <a:t>CLV - CUSTOMER LIFETIME VALUE</a:t>
            </a:r>
            <a:endParaRPr lang="ru-RU" sz="2900" b="1" dirty="0">
              <a:latin typeface="Candara" panose="020E0502030303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F4F707-0051-4138-B39E-E4A0359B5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961" y="1208385"/>
            <a:ext cx="8422640" cy="52844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2D28A-50C0-49FB-9BAF-203A9E715DED}"/>
              </a:ext>
            </a:extLst>
          </p:cNvPr>
          <p:cNvSpPr txBox="1"/>
          <p:nvPr/>
        </p:nvSpPr>
        <p:spPr>
          <a:xfrm>
            <a:off x="838200" y="2828835"/>
            <a:ext cx="2189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>
                <a:latin typeface="Candara" panose="020E0502030303020204" pitchFamily="34" charset="0"/>
              </a:rPr>
              <a:t>Insight: </a:t>
            </a:r>
          </a:p>
          <a:p>
            <a:r>
              <a:rPr lang="de-DE" dirty="0">
                <a:latin typeface="Candara" panose="020E0502030303020204" pitchFamily="34" charset="0"/>
              </a:rPr>
              <a:t>CLV korreliert stark mit </a:t>
            </a:r>
            <a:r>
              <a:rPr lang="de-DE" dirty="0" err="1">
                <a:latin typeface="Candara" panose="020E0502030303020204" pitchFamily="34" charset="0"/>
              </a:rPr>
              <a:t>Frequency</a:t>
            </a:r>
            <a:r>
              <a:rPr lang="de-DE" dirty="0">
                <a:latin typeface="Candara" panose="020E0502030303020204" pitchFamily="34" charset="0"/>
              </a:rPr>
              <a:t> und </a:t>
            </a:r>
            <a:r>
              <a:rPr lang="de-DE" dirty="0" err="1">
                <a:latin typeface="Candara" panose="020E0502030303020204" pitchFamily="34" charset="0"/>
              </a:rPr>
              <a:t>Recency</a:t>
            </a:r>
            <a:endParaRPr lang="uk-UA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33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EBF3C6A-6C84-4168-979E-0DCD6761E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9421" y="1154098"/>
            <a:ext cx="8777158" cy="5158877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8CD3686-99CA-4E7D-B527-8BF3C848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CLV (Churn Risk)</a:t>
            </a:r>
            <a:endParaRPr lang="ru-RU" sz="3200" b="1" dirty="0"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1108E-0291-4E65-AEE7-AA741A661770}"/>
              </a:ext>
            </a:extLst>
          </p:cNvPr>
          <p:cNvSpPr txBox="1"/>
          <p:nvPr/>
        </p:nvSpPr>
        <p:spPr>
          <a:xfrm>
            <a:off x="950710" y="2613392"/>
            <a:ext cx="1396250" cy="1631216"/>
          </a:xfrm>
          <a:prstGeom prst="rect">
            <a:avLst/>
          </a:prstGeom>
          <a:noFill/>
          <a:effectLst>
            <a:glow rad="63500">
              <a:schemeClr val="accent1">
                <a:lumMod val="20000"/>
                <a:lumOff val="80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de-DE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 liegt das Geld, das wir verlieren könnten?</a:t>
            </a:r>
            <a:endParaRPr lang="ru-RU" sz="20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15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MONATLICHER UMSATZ</a:t>
            </a:r>
            <a:endParaRPr lang="ru-RU" sz="3200" b="1" dirty="0">
              <a:latin typeface="Candara" panose="020E0502030303020204" pitchFamily="34" charset="0"/>
            </a:endParaRP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BB55560B-4A2B-455F-BE5B-A2D7E4FB3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000" y="1154098"/>
            <a:ext cx="9964826" cy="49040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75FEE2-89F2-4E63-9994-DA5A172FB7DB}"/>
              </a:ext>
            </a:extLst>
          </p:cNvPr>
          <p:cNvSpPr txBox="1"/>
          <p:nvPr/>
        </p:nvSpPr>
        <p:spPr>
          <a:xfrm>
            <a:off x="3345607" y="2150009"/>
            <a:ext cx="2750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>
                <a:latin typeface="Candara" panose="020E0502030303020204" pitchFamily="34" charset="0"/>
              </a:rPr>
              <a:t>Insight: </a:t>
            </a:r>
          </a:p>
          <a:p>
            <a:r>
              <a:rPr lang="de-DE" dirty="0">
                <a:latin typeface="Candara" panose="020E0502030303020204" pitchFamily="34" charset="0"/>
              </a:rPr>
              <a:t>Höhere Volatilität und Umsatzspitzen gegen Ende der Periode</a:t>
            </a:r>
            <a:endParaRPr lang="de-DE" b="1" dirty="0">
              <a:latin typeface="Candara" panose="020E0502030303020204" pitchFamily="34" charset="0"/>
            </a:endParaRPr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CEE19FBA-6E77-45A1-89EA-F16671D05604}"/>
              </a:ext>
            </a:extLst>
          </p:cNvPr>
          <p:cNvSpPr/>
          <p:nvPr/>
        </p:nvSpPr>
        <p:spPr>
          <a:xfrm>
            <a:off x="4107304" y="6123542"/>
            <a:ext cx="6702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latin typeface="Candara" panose="020E0502030303020204" pitchFamily="34" charset="0"/>
              </a:rPr>
              <a:t>Deutlicher Anstieg des Monatsumsatzes über den Beobachtungs-zeitraum</a:t>
            </a:r>
          </a:p>
          <a:p>
            <a:endParaRPr lang="de-DE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66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UMSATZTRENDS</a:t>
            </a:r>
            <a:endParaRPr lang="ru-RU" sz="3200" dirty="0">
              <a:latin typeface="Candara" panose="020E0502030303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C90C2D-423D-4F51-A84B-F650052C8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54098"/>
            <a:ext cx="10791433" cy="5189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81C9E5-4B42-453A-A0B2-C38B107D0330}"/>
              </a:ext>
            </a:extLst>
          </p:cNvPr>
          <p:cNvSpPr txBox="1"/>
          <p:nvPr/>
        </p:nvSpPr>
        <p:spPr>
          <a:xfrm>
            <a:off x="6267257" y="1864275"/>
            <a:ext cx="3140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>
                <a:latin typeface="Candara" panose="020E0502030303020204" pitchFamily="34" charset="0"/>
              </a:rPr>
              <a:t>Insight: </a:t>
            </a:r>
          </a:p>
          <a:p>
            <a:r>
              <a:rPr lang="de-DE" dirty="0">
                <a:latin typeface="Candara" panose="020E0502030303020204" pitchFamily="34" charset="0"/>
              </a:rPr>
              <a:t>Gleitende Durchschnitte zeigen einen stabilen Wachstumstrend trotz kurzfristiger Schwankungen.</a:t>
            </a:r>
          </a:p>
        </p:txBody>
      </p:sp>
    </p:spTree>
    <p:extLst>
      <p:ext uri="{BB962C8B-B14F-4D97-AF65-F5344CB8AC3E}">
        <p14:creationId xmlns:p14="http://schemas.microsoft.com/office/powerpoint/2010/main" val="129376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PRODUKTPROFITABILITÄT</a:t>
            </a:r>
            <a:endParaRPr lang="ru-RU" sz="3200" dirty="0">
              <a:latin typeface="Candara" panose="020E0502030303020204" pitchFamily="34" charset="0"/>
            </a:endParaRPr>
          </a:p>
        </p:txBody>
      </p:sp>
      <p:pic>
        <p:nvPicPr>
          <p:cNvPr id="14" name="Місце для вмісту 13">
            <a:extLst>
              <a:ext uri="{FF2B5EF4-FFF2-40B4-BE49-F238E27FC236}">
                <a16:creationId xmlns:a16="http://schemas.microsoft.com/office/drawing/2014/main" id="{88317E2E-4E67-4DD2-9996-B3EABDE2B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4640" y="1224607"/>
            <a:ext cx="7724418" cy="5268267"/>
          </a:xfrm>
          <a:prstGeom prst="rect">
            <a:avLst/>
          </a:prstGeom>
        </p:spPr>
      </p:pic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BD7E3109-DC55-4150-B133-8B95D8915C91}"/>
              </a:ext>
            </a:extLst>
          </p:cNvPr>
          <p:cNvSpPr/>
          <p:nvPr/>
        </p:nvSpPr>
        <p:spPr>
          <a:xfrm>
            <a:off x="838200" y="1859339"/>
            <a:ext cx="3073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1" dirty="0">
                <a:latin typeface="Candara" panose="020E0502030303020204" pitchFamily="34" charset="0"/>
              </a:rPr>
              <a:t>Interpretation:</a:t>
            </a:r>
            <a:endParaRPr lang="uk-UA" b="1" dirty="0">
              <a:latin typeface="Candara" panose="020E0502030303020204" pitchFamily="34" charset="0"/>
            </a:endParaRPr>
          </a:p>
          <a:p>
            <a:endParaRPr lang="de-DE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High-Margin-Produkte treiben die Profitabilität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Hohe Kosten bedeuten nicht automatisch hohe Margen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Einige High-</a:t>
            </a:r>
            <a:r>
              <a:rPr lang="de-DE" dirty="0" err="1">
                <a:latin typeface="Candara" panose="020E0502030303020204" pitchFamily="34" charset="0"/>
              </a:rPr>
              <a:t>Cost</a:t>
            </a:r>
            <a:r>
              <a:rPr lang="de-DE" dirty="0">
                <a:latin typeface="Candara" panose="020E0502030303020204" pitchFamily="34" charset="0"/>
              </a:rPr>
              <a:t>-Produkte liefern überproportionale Margen</a:t>
            </a:r>
          </a:p>
        </p:txBody>
      </p:sp>
    </p:spTree>
    <p:extLst>
      <p:ext uri="{BB962C8B-B14F-4D97-AF65-F5344CB8AC3E}">
        <p14:creationId xmlns:p14="http://schemas.microsoft.com/office/powerpoint/2010/main" val="38744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PRODUKT MIT HOHER MARGE</a:t>
            </a:r>
            <a:endParaRPr lang="ru-RU" sz="3200" dirty="0">
              <a:latin typeface="Candara" panose="020E0502030303020204" pitchFamily="34" charset="0"/>
            </a:endParaRP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CC20711A-A5C5-4A5A-BE1C-939F3312A61C}"/>
              </a:ext>
            </a:extLst>
          </p:cNvPr>
          <p:cNvSpPr/>
          <p:nvPr/>
        </p:nvSpPr>
        <p:spPr>
          <a:xfrm>
            <a:off x="1468740" y="6308208"/>
            <a:ext cx="9724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>
                <a:latin typeface="Candara" panose="020E0502030303020204" pitchFamily="34" charset="0"/>
              </a:rPr>
              <a:t>Insight: </a:t>
            </a:r>
            <a:r>
              <a:rPr lang="de-DE" dirty="0">
                <a:latin typeface="Candara" panose="020E0502030303020204" pitchFamily="34" charset="0"/>
              </a:rPr>
              <a:t>Produkte mit hoher Einzelmarge sind nicht automatisch die größten Gewinntreiber.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0FC3314-D992-420F-A4C2-252C58B6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" y="1154098"/>
            <a:ext cx="10815320" cy="517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88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ndara" panose="020E0502030303020204" pitchFamily="34" charset="0"/>
              </a:rPr>
              <a:t>PRÄDIKTIVE MODELLE</a:t>
            </a:r>
            <a:endParaRPr lang="ru-RU" sz="3200" dirty="0">
              <a:latin typeface="Candara" panose="020E0502030303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2CF06D-CB27-4A35-9180-5E3D99B97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60" y="1394729"/>
            <a:ext cx="7572245" cy="5098145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1CDBBE0B-D249-4997-B5B8-3530A364C29E}"/>
              </a:ext>
            </a:extLst>
          </p:cNvPr>
          <p:cNvSpPr/>
          <p:nvPr/>
        </p:nvSpPr>
        <p:spPr>
          <a:xfrm>
            <a:off x="838200" y="2136338"/>
            <a:ext cx="37439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 err="1">
                <a:latin typeface="Candara" panose="020E0502030303020204" pitchFamily="34" charset="0"/>
              </a:rPr>
              <a:t>Predictive</a:t>
            </a:r>
            <a:r>
              <a:rPr lang="de-DE" b="1" dirty="0">
                <a:latin typeface="Candara" panose="020E0502030303020204" pitchFamily="34" charset="0"/>
              </a:rPr>
              <a:t> Insight:</a:t>
            </a:r>
          </a:p>
          <a:p>
            <a:endParaRPr lang="de-DE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 </a:t>
            </a:r>
            <a:r>
              <a:rPr lang="de-DE" dirty="0" err="1">
                <a:latin typeface="Candara" panose="020E0502030303020204" pitchFamily="34" charset="0"/>
              </a:rPr>
              <a:t>Reorder</a:t>
            </a:r>
            <a:r>
              <a:rPr lang="de-DE" dirty="0">
                <a:latin typeface="Candara" panose="020E0502030303020204" pitchFamily="34" charset="0"/>
              </a:rPr>
              <a:t>-Wahrscheinlichkeit sinkt kontinuierlich mit zunehmender </a:t>
            </a:r>
            <a:r>
              <a:rPr lang="en-US" dirty="0" err="1">
                <a:latin typeface="Candara" panose="020E0502030303020204" pitchFamily="34" charset="0"/>
              </a:rPr>
              <a:t>Rezenz</a:t>
            </a:r>
            <a:r>
              <a:rPr lang="en-US" dirty="0">
                <a:latin typeface="Candara" panose="020E0502030303020204" pitchFamily="34" charset="0"/>
              </a:rPr>
              <a:t> (</a:t>
            </a:r>
            <a:r>
              <a:rPr lang="de-DE" dirty="0" err="1">
                <a:latin typeface="Candara" panose="020E0502030303020204" pitchFamily="34" charset="0"/>
              </a:rPr>
              <a:t>Recency</a:t>
            </a:r>
            <a:r>
              <a:rPr lang="en-US" dirty="0">
                <a:latin typeface="Candara" panose="020E0502030303020204" pitchFamily="34" charset="0"/>
              </a:rPr>
              <a:t>)</a:t>
            </a:r>
            <a:r>
              <a:rPr lang="de-DE" dirty="0">
                <a:latin typeface="Candara" panose="020E0502030303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</a:rPr>
              <a:t> </a:t>
            </a:r>
            <a:r>
              <a:rPr lang="en-US" dirty="0" err="1">
                <a:latin typeface="Candara" panose="020E0502030303020204" pitchFamily="34" charset="0"/>
              </a:rPr>
              <a:t>Rezenz</a:t>
            </a:r>
            <a:r>
              <a:rPr lang="de-DE" dirty="0">
                <a:latin typeface="Candara" panose="020E0502030303020204" pitchFamily="34" charset="0"/>
              </a:rPr>
              <a:t> ist der stärkste Einzelindikator für Wiederbestellungen.</a:t>
            </a:r>
          </a:p>
        </p:txBody>
      </p:sp>
    </p:spTree>
    <p:extLst>
      <p:ext uri="{BB962C8B-B14F-4D97-AF65-F5344CB8AC3E}">
        <p14:creationId xmlns:p14="http://schemas.microsoft.com/office/powerpoint/2010/main" val="4116847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2900" b="1" dirty="0">
                <a:latin typeface="Candara" panose="020E0502030303020204" pitchFamily="34" charset="0"/>
              </a:rPr>
              <a:t>ZUSAMMENFASSUNG DER WICHTIGSTEN ERKENNTNISSE</a:t>
            </a:r>
            <a:endParaRPr lang="ru-RU" sz="2900" b="1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7701B-2851-424F-B404-062566C54828}"/>
              </a:ext>
            </a:extLst>
          </p:cNvPr>
          <p:cNvSpPr txBox="1"/>
          <p:nvPr/>
        </p:nvSpPr>
        <p:spPr>
          <a:xfrm>
            <a:off x="1066800" y="1319778"/>
            <a:ext cx="55283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>
                <a:latin typeface="Candara" panose="020E0502030303020204" pitchFamily="34" charset="0"/>
              </a:rPr>
              <a:t>Customer </a:t>
            </a:r>
            <a:r>
              <a:rPr lang="de-DE" b="1" dirty="0" err="1">
                <a:latin typeface="Candara" panose="020E0502030303020204" pitchFamily="34" charset="0"/>
              </a:rPr>
              <a:t>Insights</a:t>
            </a:r>
            <a:endParaRPr lang="de-DE" b="1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>
                <a:latin typeface="Candara" panose="020E0502030303020204" pitchFamily="34" charset="0"/>
              </a:rPr>
              <a:t>Top </a:t>
            </a:r>
            <a:r>
              <a:rPr lang="de-DE" b="1" dirty="0">
                <a:latin typeface="Candara" panose="020E0502030303020204" pitchFamily="34" charset="0"/>
              </a:rPr>
              <a:t>20 %</a:t>
            </a:r>
            <a:r>
              <a:rPr lang="de-DE" dirty="0">
                <a:latin typeface="Candara" panose="020E0502030303020204" pitchFamily="34" charset="0"/>
              </a:rPr>
              <a:t> der Kunden generieren </a:t>
            </a:r>
            <a:r>
              <a:rPr lang="de-DE" b="1" dirty="0">
                <a:latin typeface="Candara" panose="020E0502030303020204" pitchFamily="34" charset="0"/>
              </a:rPr>
              <a:t>~62 % </a:t>
            </a:r>
            <a:r>
              <a:rPr lang="de-DE" dirty="0">
                <a:latin typeface="Candara" panose="020E0502030303020204" pitchFamily="34" charset="0"/>
              </a:rPr>
              <a:t>des Umsatzes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>
                <a:latin typeface="Candara" panose="020E0502030303020204" pitchFamily="34" charset="0"/>
              </a:rPr>
              <a:t>At-Risk Segment: </a:t>
            </a:r>
            <a:r>
              <a:rPr lang="de-DE" b="1" dirty="0">
                <a:latin typeface="Candara" panose="020E0502030303020204" pitchFamily="34" charset="0"/>
              </a:rPr>
              <a:t>~56.9k $ Umsatz gefährdet</a:t>
            </a: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>
                <a:latin typeface="Candara" panose="020E0502030303020204" pitchFamily="34" charset="0"/>
              </a:rPr>
              <a:t>B2B-Kunden: höherer AOV und bessere Bindung</a:t>
            </a: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D64ED36E-ADEA-4AA8-9059-3B1267571065}"/>
              </a:ext>
            </a:extLst>
          </p:cNvPr>
          <p:cNvSpPr/>
          <p:nvPr/>
        </p:nvSpPr>
        <p:spPr>
          <a:xfrm>
            <a:off x="1066799" y="5014872"/>
            <a:ext cx="5689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dirty="0" err="1">
                <a:latin typeface="Candara" panose="020E0502030303020204" pitchFamily="34" charset="0"/>
              </a:rPr>
              <a:t>Product</a:t>
            </a:r>
            <a:r>
              <a:rPr lang="de-DE" b="1" dirty="0">
                <a:latin typeface="Candara" panose="020E0502030303020204" pitchFamily="34" charset="0"/>
              </a:rPr>
              <a:t> </a:t>
            </a:r>
            <a:r>
              <a:rPr lang="de-DE" b="1" dirty="0" err="1">
                <a:latin typeface="Candara" panose="020E0502030303020204" pitchFamily="34" charset="0"/>
              </a:rPr>
              <a:t>Insights</a:t>
            </a:r>
            <a:endParaRPr lang="de-DE" b="1" dirty="0">
              <a:latin typeface="Candara" panose="020E0502030303020204" pitchFamily="34" charset="0"/>
            </a:endParaRPr>
          </a:p>
          <a:p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>
                <a:latin typeface="Candara" panose="020E0502030303020204" pitchFamily="34" charset="0"/>
              </a:rPr>
              <a:t>Wenige Produkte treiben den Großteil der Marge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>
                <a:latin typeface="Candara" panose="020E0502030303020204" pitchFamily="34" charset="0"/>
              </a:rPr>
              <a:t>Mehrere Produkte mit geringer oder negativer Marge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D8FBFAAD-55BB-49C3-B8BC-53143E97AAB6}"/>
              </a:ext>
            </a:extLst>
          </p:cNvPr>
          <p:cNvSpPr/>
          <p:nvPr/>
        </p:nvSpPr>
        <p:spPr>
          <a:xfrm>
            <a:off x="6192520" y="3310904"/>
            <a:ext cx="50088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💡 </a:t>
            </a:r>
            <a:r>
              <a:rPr lang="de-DE" b="1" noProof="1">
                <a:latin typeface="Candara" panose="020E0502030303020204" pitchFamily="34" charset="0"/>
              </a:rPr>
              <a:t>Operational &amp; Predictive Insights</a:t>
            </a:r>
          </a:p>
          <a:p>
            <a:endParaRPr lang="de-DE" noProof="1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noProof="1">
                <a:latin typeface="Candara" panose="020E0502030303020204" pitchFamily="34" charset="0"/>
              </a:rPr>
              <a:t>Saisonale Umsatzmuster vorhanden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noProof="1">
                <a:latin typeface="Candara" panose="020E0502030303020204" pitchFamily="34" charset="0"/>
              </a:rPr>
              <a:t>High-Margin-Produkte sind gut identifizierbar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noProof="1">
                <a:latin typeface="Candara" panose="020E0502030303020204" pitchFamily="34" charset="0"/>
              </a:rPr>
              <a:t>Reorder-Verhalten moderat vorhersagbar</a:t>
            </a:r>
          </a:p>
        </p:txBody>
      </p:sp>
      <p:cxnSp>
        <p:nvCxnSpPr>
          <p:cNvPr id="9" name="Пряма сполучна лінія 8">
            <a:extLst>
              <a:ext uri="{FF2B5EF4-FFF2-40B4-BE49-F238E27FC236}">
                <a16:creationId xmlns:a16="http://schemas.microsoft.com/office/drawing/2014/main" id="{31FD1CB3-A964-418B-A6A6-18B6BF594619}"/>
              </a:ext>
            </a:extLst>
          </p:cNvPr>
          <p:cNvCxnSpPr>
            <a:cxnSpLocks/>
          </p:cNvCxnSpPr>
          <p:nvPr/>
        </p:nvCxnSpPr>
        <p:spPr>
          <a:xfrm>
            <a:off x="922655" y="1121040"/>
            <a:ext cx="10263505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4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96406-8A1E-4122-B447-4767FE23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ndara" panose="020E0502030303020204" pitchFamily="34" charset="0"/>
              </a:rPr>
              <a:t>ZENTRALE ERKENNTNISSE &amp; IMPACT</a:t>
            </a:r>
            <a:endParaRPr lang="ru-RU" sz="2800" b="1" dirty="0">
              <a:latin typeface="Candara" panose="020E05020303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1694D-7B7B-42F5-A26C-C96F94C989F4}"/>
              </a:ext>
            </a:extLst>
          </p:cNvPr>
          <p:cNvSpPr txBox="1">
            <a:spLocks/>
          </p:cNvSpPr>
          <p:nvPr/>
        </p:nvSpPr>
        <p:spPr>
          <a:xfrm>
            <a:off x="838200" y="1572813"/>
            <a:ext cx="5942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ndara" panose="020E0502030303020204" pitchFamily="34" charset="0"/>
              </a:rPr>
              <a:t>Customer-Focused </a:t>
            </a:r>
            <a:r>
              <a:rPr lang="en-US" b="1" dirty="0">
                <a:latin typeface="Candara" panose="020E0502030303020204" pitchFamily="34" charset="0"/>
              </a:rPr>
              <a:t>Actions</a:t>
            </a:r>
          </a:p>
          <a:p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ndara" panose="020E0502030303020204" pitchFamily="34" charset="0"/>
              </a:rPr>
              <a:t>Gezielte</a:t>
            </a:r>
            <a:r>
              <a:rPr lang="en-US" dirty="0">
                <a:latin typeface="Candara" panose="020E0502030303020204" pitchFamily="34" charset="0"/>
              </a:rPr>
              <a:t> Retention </a:t>
            </a:r>
            <a:r>
              <a:rPr lang="en-US" dirty="0" err="1">
                <a:latin typeface="Candara" panose="020E0502030303020204" pitchFamily="34" charset="0"/>
              </a:rPr>
              <a:t>für</a:t>
            </a:r>
            <a:r>
              <a:rPr lang="en-US" dirty="0">
                <a:latin typeface="Candara" panose="020E0502030303020204" pitchFamily="34" charset="0"/>
              </a:rPr>
              <a:t> At-Risk High-Value </a:t>
            </a:r>
            <a:r>
              <a:rPr lang="en-US" dirty="0" err="1">
                <a:latin typeface="Candara" panose="020E0502030303020204" pitchFamily="34" charset="0"/>
              </a:rPr>
              <a:t>Kunden</a:t>
            </a: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ndara" panose="020E0502030303020204" pitchFamily="34" charset="0"/>
              </a:rPr>
              <a:t>Personalisierte</a:t>
            </a:r>
            <a:r>
              <a:rPr lang="en-US" dirty="0">
                <a:latin typeface="Candara" panose="020E0502030303020204" pitchFamily="34" charset="0"/>
              </a:rPr>
              <a:t> </a:t>
            </a:r>
            <a:r>
              <a:rPr lang="en-US" dirty="0" err="1">
                <a:latin typeface="Candara" panose="020E0502030303020204" pitchFamily="34" charset="0"/>
              </a:rPr>
              <a:t>Angebote</a:t>
            </a:r>
            <a:r>
              <a:rPr lang="en-US" dirty="0">
                <a:latin typeface="Candara" panose="020E0502030303020204" pitchFamily="34" charset="0"/>
              </a:rPr>
              <a:t> </a:t>
            </a:r>
            <a:r>
              <a:rPr lang="en-US" dirty="0" err="1">
                <a:latin typeface="Candara" panose="020E0502030303020204" pitchFamily="34" charset="0"/>
              </a:rPr>
              <a:t>für</a:t>
            </a:r>
            <a:r>
              <a:rPr lang="en-US" dirty="0">
                <a:latin typeface="Candara" panose="020E0502030303020204" pitchFamily="34" charset="0"/>
              </a:rPr>
              <a:t> Champions &amp; Loyal </a:t>
            </a:r>
            <a:r>
              <a:rPr lang="en-US" dirty="0" err="1">
                <a:latin typeface="Candara" panose="020E0502030303020204" pitchFamily="34" charset="0"/>
              </a:rPr>
              <a:t>Kunden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613A3-D3BB-49ED-BC0B-A0E27E073505}"/>
              </a:ext>
            </a:extLst>
          </p:cNvPr>
          <p:cNvSpPr txBox="1">
            <a:spLocks/>
          </p:cNvSpPr>
          <p:nvPr/>
        </p:nvSpPr>
        <p:spPr>
          <a:xfrm>
            <a:off x="7310120" y="1572813"/>
            <a:ext cx="4043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Operational Impact</a:t>
            </a:r>
          </a:p>
          <a:p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Bessere Planung durch Saisonalität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Datengestützte Priorisierung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5AEE11-FBD7-4261-8EEA-07E5B848EE6C}"/>
              </a:ext>
            </a:extLst>
          </p:cNvPr>
          <p:cNvSpPr txBox="1">
            <a:spLocks/>
          </p:cNvSpPr>
          <p:nvPr/>
        </p:nvSpPr>
        <p:spPr>
          <a:xfrm>
            <a:off x="922655" y="3807859"/>
            <a:ext cx="5942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Product &amp; Pricing Actions</a:t>
            </a:r>
          </a:p>
          <a:p>
            <a:endParaRPr lang="en-US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Fokus auf High-Margin-Produkte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Überprüfung von Low- &amp; Negative-Margin-Produkten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C1A3B-24BA-4598-88CC-E2D22A976234}"/>
              </a:ext>
            </a:extLst>
          </p:cNvPr>
          <p:cNvSpPr txBox="1">
            <a:spLocks/>
          </p:cNvSpPr>
          <p:nvPr/>
        </p:nvSpPr>
        <p:spPr>
          <a:xfrm>
            <a:off x="7310119" y="3807860"/>
            <a:ext cx="40436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Business Impact</a:t>
            </a: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Reduziertes Umsatzrisiko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Verbesserte Profitabilität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Candara" panose="020E0502030303020204" pitchFamily="34" charset="0"/>
              </a:rPr>
              <a:t>Effizienterer Ressourceneinsatz</a:t>
            </a:r>
            <a:endParaRPr lang="en-US" dirty="0">
              <a:latin typeface="Candara" panose="020E0502030303020204" pitchFamily="34" charset="0"/>
            </a:endParaRPr>
          </a:p>
        </p:txBody>
      </p:sp>
      <p:cxnSp>
        <p:nvCxnSpPr>
          <p:cNvPr id="10" name="Пряма сполучна лінія 9">
            <a:extLst>
              <a:ext uri="{FF2B5EF4-FFF2-40B4-BE49-F238E27FC236}">
                <a16:creationId xmlns:a16="http://schemas.microsoft.com/office/drawing/2014/main" id="{1CFE5C47-BA24-458A-B3A8-9C9F713E1178}"/>
              </a:ext>
            </a:extLst>
          </p:cNvPr>
          <p:cNvCxnSpPr>
            <a:cxnSpLocks/>
          </p:cNvCxnSpPr>
          <p:nvPr/>
        </p:nvCxnSpPr>
        <p:spPr>
          <a:xfrm>
            <a:off x="922655" y="1121040"/>
            <a:ext cx="10263505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051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397</Words>
  <Application>Microsoft Office PowerPoint</Application>
  <PresentationFormat>Широкий екран</PresentationFormat>
  <Paragraphs>114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Candara</vt:lpstr>
      <vt:lpstr>Times New Roman</vt:lpstr>
      <vt:lpstr>Wingdings</vt:lpstr>
      <vt:lpstr>Тема Office</vt:lpstr>
      <vt:lpstr>Kundensegmentierung und Umsatzanalyse  im E-Commerce</vt:lpstr>
      <vt:lpstr>GESCHÄFTSZIELE:</vt:lpstr>
      <vt:lpstr>DATENÜBERSICHT</vt:lpstr>
      <vt:lpstr>KUNDENSEGMENTIERUNG</vt:lpstr>
      <vt:lpstr>CLV - CUSTOMER LIFETIME VALUE</vt:lpstr>
      <vt:lpstr>CLV (Churn Risk)</vt:lpstr>
      <vt:lpstr>MONATLICHER UMSATZ</vt:lpstr>
      <vt:lpstr>UMSATZTRENDS</vt:lpstr>
      <vt:lpstr>PRODUKTPROFITABILITÄT</vt:lpstr>
      <vt:lpstr>PRODUKT MIT HOHER MARGE</vt:lpstr>
      <vt:lpstr>PRÄDIKTIVE MODELLE</vt:lpstr>
      <vt:lpstr>ZUSAMMENFASSUNG DER WICHTIGSTEN ERKENNTNISSE</vt:lpstr>
      <vt:lpstr>ZENTRALE ERKENNTNISSE &amp;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Kundensegmentierung und Umsatzanalyse im E-Commerce</dc:title>
  <dc:creator>Anna</dc:creator>
  <cp:lastModifiedBy>Anna</cp:lastModifiedBy>
  <cp:revision>48</cp:revision>
  <dcterms:created xsi:type="dcterms:W3CDTF">2025-12-17T21:42:25Z</dcterms:created>
  <dcterms:modified xsi:type="dcterms:W3CDTF">2025-12-18T19:07:46Z</dcterms:modified>
</cp:coreProperties>
</file>